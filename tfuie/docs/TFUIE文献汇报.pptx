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12192000"/>
  <p:embeddedFontLst>
    <p:embeddedFont>
      <p:font typeface="微软雅黑" panose="020B0503020204020204" charset="-122"/>
      <p:regular r:id="rId42"/>
      <p:bold r:id="rId43"/>
    </p:embeddedFont>
    <p:embeddedFont>
      <p:font typeface="Calibri" panose="020F0502020204030204" charset="0"/>
      <p:regular r:id="rId44"/>
      <p:bold r:id="rId45"/>
      <p:italic r:id="rId46"/>
      <p:boldItalic r:id="rId47"/>
    </p:embeddedFont>
    <p:embeddedFont>
      <p:font typeface="Calibri Light" panose="020F0302020204030204" charset="0"/>
      <p:regular r:id="rId48"/>
      <p:italic r:id="rId49"/>
    </p:embeddedFont>
    <p:embeddedFont>
      <p:font typeface="等线 Light" panose="02010600030101010101" charset="-122"/>
      <p:regular r:id="rId50"/>
    </p:embeddedFont>
    <p:embeddedFont>
      <p:font typeface="等线" panose="02010600030101010101" charset="-122"/>
      <p:regular r:id="rId51"/>
      <p:bold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701" autoAdjust="0"/>
  </p:normalViewPr>
  <p:slideViewPr>
    <p:cSldViewPr snapToGrid="0" snapToObjects="1">
      <p:cViewPr varScale="1">
        <p:scale>
          <a:sx n="91" d="100"/>
          <a:sy n="91" d="100"/>
        </p:scale>
        <p:origin x="1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font" Target="fonts/font11.fntdata"/><Relationship Id="rId51" Type="http://schemas.openxmlformats.org/officeDocument/2006/relationships/font" Target="fonts/font10.fntdata"/><Relationship Id="rId50" Type="http://schemas.openxmlformats.org/officeDocument/2006/relationships/font" Target="fonts/font9.fntdata"/><Relationship Id="rId5" Type="http://schemas.openxmlformats.org/officeDocument/2006/relationships/slide" Target="slides/slide2.xml"/><Relationship Id="rId49" Type="http://schemas.openxmlformats.org/officeDocument/2006/relationships/font" Target="fonts/font8.fntdata"/><Relationship Id="rId48" Type="http://schemas.openxmlformats.org/officeDocument/2006/relationships/font" Target="fonts/font7.fntdata"/><Relationship Id="rId47" Type="http://schemas.openxmlformats.org/officeDocument/2006/relationships/font" Target="fonts/font6.fntdata"/><Relationship Id="rId46" Type="http://schemas.openxmlformats.org/officeDocument/2006/relationships/font" Target="fonts/font5.fntdata"/><Relationship Id="rId45" Type="http://schemas.openxmlformats.org/officeDocument/2006/relationships/font" Target="fonts/font4.fntdata"/><Relationship Id="rId44" Type="http://schemas.openxmlformats.org/officeDocument/2006/relationships/font" Target="fonts/font3.fntdata"/><Relationship Id="rId43" Type="http://schemas.openxmlformats.org/officeDocument/2006/relationships/font" Target="fonts/font2.fntdata"/><Relationship Id="rId42" Type="http://schemas.openxmlformats.org/officeDocument/2006/relationships/font" Target="fonts/font1.fntdata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本次汇报论文是 Task-Friendly Underwater Image Enhancement for Machine Vision Applications，简称 TFUIE，刊登在 IEEE TGRS 2024 年第 62 卷。本文把增强的目标放在机器视觉：增强图有没有让分割、检测和显著性检测变得更准确。方法包含内容与失真解耦、语义感知对比模块和两个层次的任务指导。报告依次介绍背景、难点、方法、结果、思考，以及可执行的复现准备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作者均来自上海大学，第一作者为 Meng Yu，通讯作者为 Liquan Shen。原文给出代码 https://github.com/gemyumeng/TFUIE 。文中把框架称作无监督增强，是指不依赖同一场景的一对水下退化图和真实清晰图；它仍使用 SUIM 的像素级语义标签做分割监督，所以更准确的理解是“非配对增强加语义任务指导”。不要把它解释为完全不需要标签。本文实验只评价机器视觉任务，并没有报告 PSNR、SSIM 或人眼质量评分。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p.1、p.3 贡献；DOI:10.1109/TGRS.2023.3340244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首页署名显示，Meng Yu 和 Zhengyong Wang 来自上海大学通信与信息工程学院；Liquan Shen 和 Xia Hua 的署名是上海大学的特种光纤与光接入网重点实验室，以及特种光纤与先进通信联合国际研究实验室。论文末页简介还提到 Meng Yu 当时在上海大学通信与信息系统实验室攻读硕士，Liquan Shen 为教授。这些只说明论文发表时的身份，不推断作者当前职位。时间线按原文首页明确日期：2023 年 12 月 7 日在线发表，12 月 15 日当前版本，最终收录在 2024 年第 62 卷。期刊影响因子有统计年份，不能只填一个无年份数值。影响因子：9.4（GRSS 官网现值）；外部来源：https://www.grss-ieee.org/publications/transactions-on-geoscience-remote-sensing/ 影响因子 9.4 来自 IEEE GRSS 官网当前期刊信息，2026 年 10 月 3 日核查。网页没有注明该数值对应的统计年份，故这里不将其写成本文 2023 年在线发表或 2024 年卷年的 JIF。该值是期刊指标，不是本篇论文的引用次数或单篇质量评分。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p.1、p.14 作者简介；IF 单独列出指标年份和来源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分为研究背景、难点问题、研究过程、研究结果、我的思考和文献复现六部分。方法部分先解释解耦和循环，再讲语义对比与任务指导；结果按语义分割、目标检测和显著性检测三类任务组织。最后整理原文训练条件、公开代码的实际差异，以及动手前应完成的检查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先看水下退化对机器视觉的影响，以及为什么图像看起来更清楚，仍可能出现漏检。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这四张图来自论文图 1，展示相同场景在 RetinaNet 上的检测结果。增强前后的图像会改变检测器接收到的特征，颜色对比度改善并不能自动等同于目标识别改善。讲解时关注同一处小目标是否被框出，是否出现漏检；不要把某个框的置信度直接当成全数据集的准确率。图 1 的原图检测以及 TACL、Fusion 示例仍有漏检，而 TFUIE 的示例较好。单张图只能提出问题，后面还需要表格与多个任务检验。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p.1–2，Fig.1：RetinaNet 检测示例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水下很难获得同一场景在真实清晰条件下的参考图，因此本文采用非配对图像转换。训练时提供水下图 X 和另一张内容无关的陆地清晰图 Y，它们不必拍摄相同目标。论文写 SUIM 有 1,634 张带语义标签水下图，并从 Flickr2K 随机取同样数量。这里忠于本文的 1,634，不直接套用其他资料常见的 SUIM 1,635 总数；实际复现还要核对作者文件清单。语义标签对应的是水下图 X，用于分割指导。因此无需配对清晰图与无需任何人工标签是两件不同的事情。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p.4、p.7：§III-A、§IV-A/B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接下来把背景归纳为三个具体难点，并说明 TFUIE 的模块如何对应它们。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，增强器可能在一种水域数据上训练，却被用于完全不同的任务数据，水质、照明和目标都会改变特征分布。第二，增强不只是改变颜色；去噪、平滑或局部修复可能同时损失有用细节。第三，如果增强只以人眼好看为目标，它不知道哪些图像特征真正影响分割。作者分别用解耦表示、语义对比和任务指导来应对。这里是设计动机，并不意味着每个模块只影响一个因素；后面的消融用受控比较检验它们的增量作用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p.2–3，引言与贡献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下面进入方法：先看整体训练框架，再解释正向转换、循环重建、网络结构、语义对比和双分支指导。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从左到右读图。上方水下图 X 的内容特征进入增强生成器，得到增强图。下方把 X 的失真特征与陆地图 Y 的内容特征结合，生成合成水下图。两张结果又送回相应网络，分别重建原来的 X 和 Y。框架中两个额外约束是：SACM 保持同一场景的语义内容相近；DTGB 用语义分割从特征和图像两个层次指导增强。图例中蓝色编码器对应内容，橙色对应失真。先理解增强和合成的目的，随后再看各模块公式。测试增强的主路径只需水下输入、内容编码器和增强生成器，训练图里的陆地图和真值标签不是每次增强都需要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p.5 Fig.2；§III-A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解耦可以理解为把“场景中有什么”与“水下环境让它看起来怎样”分开建模。水下内容编码器取 X 的内容，增强生成器用它产生增强图 YX。合成路径用水下失真编码器取 X 的退化表示，再与陆地图 Y 的内容表示相加，生成内容来自 Y、具有水下外观的 XY。这不是把鱼变成陆地房屋，也不是使用 Y 作为鱼图的像素真值。图中失真特征是网络表示，不等同于准确测量的透射率或深度。论文使用三个编码器与两个生成器，各自权重独立。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p.4–5 §III-B、Eq.(1–2)、Fig.2 局部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如果模型只把图像的外观改得像另一个域，可能忽略原来的场景。循环重建要求变换后仍能回到原内容：合成水下图 XY 增强后应重建陆地图 Y；增强图 YX 的内容与合成图 XY 的失真组合，应重建水下图 X。损失使用重建与原图的 L1 差异。这是训练上的约束，不是数学上保证严格双射或无损可逆。原文把它称为 forward 和 backward cross translation，三编码器和两生成器之间不共享权重。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p.5 Eq.(3–4)；p.7 Eq.(5)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论文以 U-Net 编码器—解码器结构为基础，用 Dense Block 替换普通卷积，并通过四次下采样获得四个尺度的特征。增强路径有水下内容编码器；合成路径还需要水下失真编码器和陆地内容编码器。结构相同只表示这些网络采用同一种设计，不表示权重共享。图中的拼接符号与加法符号也要区分：失真与陆地图内容的公式采用相加融合，而网络内部某些连接采用拼接。Dense Block 让前面产生的特征能够继续被后面的层使用；多尺度融合同时利用局部细节和较大范围的上下文。正文没有完整报告参数量或推理速度，因此不能由结构图断言它轻量或实时。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p.5–6 Fig.3、§III-B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SACM 的特征提取器 G 分别处理原水下图、陆地图、增强图和合成图，输出与输入同分辨率的语义感知特征。增强三元组中，增强图是锚点，原水下图是正样本，因为它们应当是同一场景；陆地图是负样本，因为其场景内容不同。合成三元组则相反：合成图的内容来自陆地图，所以陆地图是正样本。损失是同内容距离与异内容距离的比值，希望前者小、后者大。这个设计帮助模型在去除失真时保留鱼的轮廓等内容，而不是让图像语义变成不相关的陆地场景。这里用的是本文自己的特征提取器，不应写成 VGG19 感知损失；公开仓库还存在其他 VGG 训练依赖，需分开看。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p.6 Fig.4、§III-C；p.7 Eq.(8)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这两个分支是两个监督位置，不是同时训练两种不同任务。特征支路把水下内容编码器的多尺度特征直接交给分割解码器，要求内容表示能够预测语义 mask。图像支路先生成增强图，再交给 U-Net 分割网络，要求最终 RGB 图同样保留可分割的信息。两支路都与水下输入对应的语义标签计算交叉熵。本文训练指导只用分割，而检测和显著性检测是在实验阶段检查跨任务效果。原文式 9 第二项印成 Nseg(XY)，与本节文字和图 5 所说的增强图 YX 不一致；本页按明确的图像级增强路径解释，不截取容易误读的式 9。复现时应结合代码确认这个符号疑点。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p.6 Fig.5、§III-D；p.7 Eq.(9)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总损失包括五项，权重依次为 10、5、1、5、0.2。循环一致性对应两幅原图重建；恒等映射减少对清晰输入不必要的改变；对抗约束负责合成水下图的域真实性；语义对比负责场景内容保留；任务损失将语义分割信号传给增强网络。对抗的具体生成器与判别器交替优化应按代码实现核对，不能仅凭原文式 7 的真假判别表达式推断所有更新方向。各损失尺度不同，权重大小也不直接表示模块贡献。训练是联合优化，并没有本文未报告的独立检测模块预训练过程。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p.7 Eq.(5–10)；§III-E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现在看实验。先区分不同数据集和任务指标，再比较分割、检测、显著性结果，最后用消融分析各模块的作用。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语义分割给每个像素一个类别，使用 SUIM 八类标签，评价 mIoU 和平均类别像素准确率 mPA。目标检测输出类别与框，ChinaMM 包含海参、海胆和扇贝，训练/测试图分别为 2,071 和 676 张。论文把检测指标写为 mAP@0.5:0.95，这里保留其口径；当前公开增强仓库没有完整下游评价代码，还须核实原始评价实现。显著性检测寻找突出目标区域，通常不判断语义类别，使用 U2NET 与两个数据集。F、S、E 越大越好，MAE 越小越好。总共八种增强方法，加原始图作为比较。分割模型原文明确分别用原图或相应增强图训练后测试；下游训练策略要统一，不能把这些结果说成增强后直接送入固定模型就必然有同样收益。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p.7–10 §IV-A/C；Tables I–IV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mIoU 先为每类计算预测区域与真实区域的交并比，再在八类上平均。mPA 是按类别平均的像素准确率。表中 TFUIE 在两种网络的 mIoU 和 mPA 都最高。DeepLabv3+ 的 mIoU 从 70.6 到 73.4，提升 2.8 个百分点；U-Net 从 72.2 到 74.8，提升 2.6 个百分点。与其他增强方法相比，DeepLabv3+ 次优 mIoU 是 AAC 72.0，U-Net 次优是 Water-Net 73.2。但不能说所有类别都第一：例如 DeepLabv3+ 上植物类 TFUIE 44.3 低于 Raw 45.5，U-Net 上潜水员 85.4 低于 Raw 88.4。平均改善和局部类别回退需要同时理解。本表只展示聚合指标，完整类别表在论文中。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p.8 Tables I–II；所有数值保留原表单位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这里是论文图 6 的两个场景。第一列是真实水下 RGB 输入；中间三列是不同增强输入对应的 DeepLabv3+ 分割预测；最后一列是像素标注。彩色区域表示类别，不是增强后的 RGB 图像，更不是作者人为上色的美化效果。上方鱼场景可以看目标是否完整、轮廓是否被背景吞掉；下方沉船场景可以看背景被错误预测成目标的区域。TFUIE 示例在类别区域和轮廓上更接近标注。颜色只作为同一图内的类别标识，本页不根据颜色本身评画质；整体结论还需结合前页的平均指标。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p.9 Fig.6，选四列预测与输入、标注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 综合衡量各类别检测的精确率与召回率表现，检测框与标注的匹配还受 IoU 阈值影响。原文将指标标作 mAP@0.5:0.95，表内以百分制显示；复现要核对具体评价代码，不能自动换成 AP50。四种检测器涵盖单阶段 RetinaNet、SSD，两阶段 Faster R-CNN，以及水下检测器 FERNet。TFUIE 对应 77.4、65.0、68.1、71.8，对 Raw 的绝对增量是 4.6、5.7、3.8、1.6 个百分点。并非所有其他方法都低于 Raw：TACL 在 FERNet 上 70.4 高于 Raw 70.2，在 RetinaNet 上与 Raw 持平。因此严谨结论是“多数其他方法没有稳定提升”，而非“增强必然使检测下降”。训练指导没有用检测损失，这些结果说明分割指导的增强在所测试检测器上也有收益。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p.9 Table III；仅显示 mAP 栏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这页来自 ChinaMM 的 RetinaNet 检测可视化，依次显示输入、Raw 检测、TACL 检测、TFUIE 检测和真实框。0B、1B、2B 对应海参、海胆、扇贝。黄色框不是新定义的类别，而是论文挑出的难识别区域；局部放大块保留在每张原图面板中。可看小目标、模糊目标以及部分遮挡情况下是否漏检，同时对照真实框，防止把多画框误当成好结果。TFUIE 的原文示例更容易找到这些困难目标。单一示例不提供显著性检验，也不能由框上置信度直接推出整体 mAP。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p.10 Fig.7，RetinaNet，原图框及局部放大均保留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显著性检测回答“哪里是突出目标”，通常不需要给每个突出区域一个语义类别。本文用 U2NET。F-measure 综合精确率与召回率，S-measure 衡量结构一致性，E-measure 衡量预测与标注的综合对齐程度，MAE 是像素级平均绝对误差。F、S、E 表内用百分制，MAE 用 0 到 1 的小数，因此提升 3.4 应说百分点，MAE 降低 0.008 应说绝对差，不能混用单位。这里只选 Raw、TACL 和 TFUIE 以保证字大；在包含八种对比增强的完整 Table IV 中，TFUIE 两个数据集四项都最好。TACL 检测指标接近原始图，却在 UFO-120 的 F 指标下降，说明不同任务的收益不一定一致。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p.10 Table IV；展示 Raw、TACL、TFUIE 三种设置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上行来自 UFO-120 的鱼示例，下行来自 USOD10K 的显著目标示例。第一列仍是水下输入，Raw、TACL、TFUIE 是对应的显著性预测，最后一列为真实标注。灰度越亮表示模型越倾向认为该区域是显著目标；它不是增强图的亮度，更不是已经做完语义分类的彩色标签。请看目标轮廓是否完整，周围背景是否被错误点亮，细长部位有没有被漏掉。原文 TFUIE 的例子目标更集中、边缘更平滑。标准仍是与标签比较，不讲“预测比真值还好”这类无法由定量指标验证的说法。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p.11 Fig.8–9：各选第一个场景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 A 是不含 DR、SACM 和 DTGB 的基础模型，不等同于主表的 Raw 原始图。B 在 A 上加 DR，C 在 B 上加 DTGB，D 在 B 上加 SACM，因此 C 和 D 是两条不同的增量比较，不是沿 A→B→C→D 顺序一直加模块。判断 DR 看 B-A，判断 DTGB 看 C-B，判断 SACM 看 D-B。比如 DeepLabv3+ 上 DR 提高 4.8 个百分点；DTGB 再提高 2.0；SACM 相对 B 提高 1.1。U-Net 上 DTGB 是 73.0-71.6=1.4，原文段落误写为 2.4，这里按 Table V 计算。完整模型在所列指标上最好。论文没有单独消融 DTGB 的两条支路，所以不能给特征支路和图像支路各自一个提升数字。表内来自三项消融表的节选，完整四检测器及两显著性数据集见原文。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p.12 Tables V–VII；采用各任务关键指标的节选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接下来讨论这项方法的启发和证据边界，区分论文已经验证的结果与可以继续研究的问题。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贡献可以分别作为设计经验。解耦是关于表示的经验：模型不必把内容和失真混在一起学习。语义对比是关于约束的经验：来自同一场景的增强前后图，可以在语义特征上保持相近，即使外观变了。双层指导是关于训练目标的经验：既要求内容特征可被识别，也要求最后生成的图像可被识别。实验说明语义分割指导在所测检测和显著性任务上也有收益，但不能据此保证任何新任务都同样有效。对自己的研究来说，可以先选定要服务的任务，再决定增强模型用什么监督、结果用什么协议评估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【来源】依据 PDF §III–IV，后续借鉴是汇报者分析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这些是对论文证据范围的分析，而不是原文新增实验。第一，像素标签的获取成本仍在，扩展到新水域可能需要新的语义监督或域适配。第二，聚合 mIoU 最好不代表所有类别最好，应检查类别回退与困难场景。第三，论文没有给多次独立训练的均值标准差，也没有参数量、运行时间或实际部署，因此无法从本文结论推断它实时、最省显存或有统计显著性。第四，结尾提到可用于遥感和雾图，这只是潜在方向，没有对应实验。后续可以设计弱监督、跨水域和部署成本研究，但不能把这些写成作者已经完成的验证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【来源】根据 PDF p.7–12 的实验范围与缺失报告进行分析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最后整理复现条件。先分清论文实验设置和公开代码默认值，再完成数据、损失、入口及评价协议的核对。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论文明确的是 Linux、PyTorch 和 RTX 2070；公开 environment.yml 进一步给出 Python 3.8、torch 1.8.1、torchvision 0.9.1。这是仓库声明，不是原论文逐个指定的版本。CUDA 构建和驱动仍要选择兼容组合。SUIM 图像与 mask 需要同名、同数、同排序和空间对齐；原始彩色标签应转换为单通道整数类别 0 到 7，ignore 类按实现核对。RGB 缩放与 mask 缩放应采用各自合适插值，mask 必须最近邻，防止插出不存在的类别。Flickr2K 按原文抽取 1,634 张，裁 512 再变 256，保存清单与随机种子。当前 loader 预处理被注释，不能仅传 load_size 或 crop_size 就认为预处理完成。公开源固定提交 ea4300f051a81f62748b5ebe1741e0dac8e217e1，https://github.com/gemyumeng/TFUIE 。 1,634 是原论文报告的 SUIM 数据量；精确训练与测试文件清单仍须核对，不能把同域数据量当作已验证的完整训练划分。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p.7–8 §IV-A/B；官方仓库 environment.yml，固定提交见备注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训练共 200 个 epoch，即按数据加载器长度采样的 200 轮。前 100 轮学习率是 2e-4，随后 100 轮衰减到 0；论文没有指定具体函数，公开代码默认 linear，可以作为实现选择但要记录。Adam、batch=1、PatchGAN 和五项损失权重按原文。这里没有文献未报告的多个独立预训练阶段。若两域各 1,634 张且当前 loader 以较大域样本数计长、batch 1 不截断，每轮约 1,634 次更新，共约 326,800 次；这只是附带假设的换算，不是论文报告的 iteration 数。动手时保存每轮日志、优化器状态和 checkpoint，记录实际耗时与峰值显存。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【来源】PDF p.7–8 §IV-B；后半程具体衰减函数原文未说明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官方仓库公开了 train.py 和模型部件，但当前提交与论文仍有若干差异。默认 epoch 是 75+75，需设为 100+100；默认 GPU id 7 是设备编号，不代表论文用了八张卡。模型计算了 loss_con，却没有把它加进最终 loss_G，而且 PFC 特征提取器不在 optimizer_G 的参数列表里，因此仅改轮数不等同于完整论文训练。模型读取 lambda_P，但选项声明被注释，有属性缺失风险。base_dataset 的 resize、crop、flip 被注释，所以默认参数不代表实际处理。训练类还读取 VGG16、VGG19 本地预训练文件，仓库树未含这些文件。两个增强 checkpoint 在根目录，默认 loader 期待实验子目录；单向测试类文件名不符合模型自动发现规则，需要在自己的副本注册或调整。以上来自静态阅读，当前没有运行训练或推理；具体修正应请作者确认，记录算法差异与普通路径修正。完整文件行号及参数示意保存在随附复现清单。 另外，公开代码 gan_mode 默认 lsgan，原文 Eq.(7) 写的是交叉熵式对抗目标。复现时应确认最终采用的 GAN 实现并记录，不能未经核对就将一种目标静默替换为另一种。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【来源】TFUIE 官方仓库静态检查；固定提交 ea4300f051a81f62748b5ebe1741e0dac8e217e1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顺序是先准备条件，再跑实验。固定代码提交，安装单独环境，整理 SUIM 图与类别 mask 以及随机选择的 Flickr2K。补齐依赖权重、修复运行入口并明确算法差异后，用小批次查看张量维度、类别范围、五项损失是否有限和梯度是否流向目标模块。随后按 200 轮训练。单图增强只需要水下内容编码器和增强生成器，不要求陆地输入和语义真值。评价时分别使用 SUIM、ChinaMM、UFO-120 与 USOD10K，并让 Raw、各增强方法具有一致下游训练和测试协议。组件消融 A/B/C/D 的定义要与原文一致，不能把 D 看成 C 再加 SACM。实际峰值显存、耗时、随机种子、下游骨干及划分都应留下记录。复现结果与文献比较时，先看指标方向，再定位协议和实现差异，不仅看某张示例图。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【来源】基于原论文和公开代码的复现建议，尚未执行训练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Text"/>
          <p:cNvSpPr/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通过内容与失真解耦、语义对比和两个层次的语义分割指导，使增强更适合机器视觉。在本文的数据与协议内，分割平均指标、四检测器和两个显著性数据集都有收益。需要记住它不要求配对清晰图，但仍需要语义标签，也不能把平均结果讲成所有类别都最好。后续可讨论如何降低标签成本、检查域差异和运行成本。复现以对齐论文与代码为前提，再按清单运行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【来源】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原论文：https://doi.org/10.1109/TGRS.2023.3340244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5B5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5E3"/>
          </a:solidFill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07D6-D83F-4FD1-9BB2-DAD3AF6C7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69835-9CF9-43E5-856A-345A9283CE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4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5.png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3" Type="http://schemas.openxmlformats.org/officeDocument/2006/relationships/notesSlide" Target="../notesSlides/notesSlide2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4.png"/><Relationship Id="rId10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3" Type="http://schemas.openxmlformats.org/officeDocument/2006/relationships/notesSlide" Target="../notesSlides/notesSlide2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739154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901952"/>
            <a:ext cx="10543032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Task-Friendly Underwater Image Enhancement</a:t>
            </a:r>
            <a:endParaRPr 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Machine Vision Applications</a:t>
            </a:r>
            <a:endParaRPr 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529584"/>
            <a:ext cx="1036015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面向机器视觉应用的任务友好型水下图像增强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TFUIE：内容解耦、语义对比与任务指导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61772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4892040"/>
            <a:ext cx="377647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组会文献汇报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8960" y="5650992"/>
            <a:ext cx="597103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7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 TGRS · Vol. 62 · 2024</a:t>
            </a:r>
            <a:endParaRPr lang="zh-CN" sz="17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论文速览：TFUIE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94360" y="1188720"/>
            <a:ext cx="557784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文章基本信息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94360" y="1783080"/>
            <a:ext cx="7223760" cy="241401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作者：Meng Yu、Liquan Shen、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Zhengyong Wang、Xia Hua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期刊：IEEE TGRS，Vol. 62，2024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文章号：5601014，共 14 页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DOI：10.1109/TGRS.2023.3340244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8293608" y="1188720"/>
            <a:ext cx="326440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293608" y="1783080"/>
            <a:ext cx="3264408" cy="243230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让增强图更有利于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语义分割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目标检测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显著性检测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原模板说明面板 8"/>
          <p:cNvSpPr/>
          <p:nvPr/>
        </p:nvSpPr>
        <p:spPr>
          <a:xfrm>
            <a:off x="594360" y="4754880"/>
            <a:ext cx="10981944" cy="1188720"/>
          </a:xfrm>
          <a:prstGeom prst="roundRect">
            <a:avLst>
              <a:gd name="adj" fmla="val 6000"/>
            </a:avLst>
          </a:prstGeom>
          <a:solidFill>
            <a:srgbClr val="EBE0E6"/>
          </a:solidFill>
          <a:ln w="12700">
            <a:solidFill>
              <a:srgbClr val="D1C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 9"/>
          <p:cNvSpPr txBox="1"/>
          <p:nvPr/>
        </p:nvSpPr>
        <p:spPr>
          <a:xfrm>
            <a:off x="822960" y="4992624"/>
            <a:ext cx="10506456" cy="84124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核心思路：分离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场景内容与水下失真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，保留任务所需的语义信息。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增强无需成对清晰参考图；训练中使用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语义标签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进行任务指导。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研究团队与发表时间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原模板说明面板 4"/>
          <p:cNvSpPr/>
          <p:nvPr/>
        </p:nvSpPr>
        <p:spPr>
          <a:xfrm>
            <a:off x="594360" y="1225296"/>
            <a:ext cx="5303520" cy="3995928"/>
          </a:xfrm>
          <a:prstGeom prst="roundRect">
            <a:avLst>
              <a:gd name="adj" fmla="val 6000"/>
            </a:avLst>
          </a:prstGeom>
          <a:solidFill>
            <a:srgbClr val="EBE0E6"/>
          </a:solidFill>
          <a:ln w="12700">
            <a:solidFill>
              <a:srgbClr val="D1C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原模板说明面板 5"/>
          <p:cNvSpPr/>
          <p:nvPr/>
        </p:nvSpPr>
        <p:spPr>
          <a:xfrm>
            <a:off x="6099048" y="1225296"/>
            <a:ext cx="5477256" cy="3995928"/>
          </a:xfrm>
          <a:prstGeom prst="roundRect">
            <a:avLst>
              <a:gd name="adj" fmla="val 6000"/>
            </a:avLst>
          </a:prstGeom>
          <a:solidFill>
            <a:srgbClr val="EBE0E6"/>
          </a:solidFill>
          <a:ln w="12700">
            <a:solidFill>
              <a:srgbClr val="D1C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6"/>
          <p:cNvSpPr txBox="1"/>
          <p:nvPr/>
        </p:nvSpPr>
        <p:spPr>
          <a:xfrm>
            <a:off x="859536" y="1481328"/>
            <a:ext cx="4745736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上海大学研究团队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859536" y="2039112"/>
            <a:ext cx="4745736" cy="292608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第一作者：Meng Yu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通讯作者：Liquan Shen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共同作者：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Zhengyong Wang、Xia Hua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单位：通信与信息工程学院；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特种光纤与光接入网重点实验室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及特种光纤与先进通信联合实验室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6364224" y="1481328"/>
            <a:ext cx="4901184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论文时间线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6364224" y="2039112"/>
            <a:ext cx="4892040" cy="278892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收稿：2023 年 6 月 26 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修回：2023 年 10 月 26 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录用：2023 年 12 月 2 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在线发表：2023 年 12 月 7 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当前版本：2023 年 12 月 15 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正式卷年：2024 年，Vol. 62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94360" y="5559552"/>
            <a:ext cx="10991088" cy="8595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影响因子：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9.4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（GRSS 官网）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348205"/>
            <a:ext cx="2697480" cy="83978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53312" y="0"/>
            <a:ext cx="2542032" cy="2322576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53312" y="438912"/>
            <a:ext cx="2542032" cy="7772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53312" y="1298448"/>
            <a:ext cx="2542032" cy="38404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53312" y="1956816"/>
            <a:ext cx="2542032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83464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64792" y="285292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研究背景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0" y="283464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85232" y="285292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难点问题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092440" y="283464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85292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05672" y="285292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研究过程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51560" y="457200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9028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64792" y="459028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研究结果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572000" y="457200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59028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85232" y="459028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我的思考</a:t>
            </a:r>
            <a:endParaRPr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18"/>
          <p:cNvSpPr/>
          <p:nvPr/>
        </p:nvSpPr>
        <p:spPr>
          <a:xfrm>
            <a:off x="8092440" y="4572000"/>
            <a:ext cx="566928" cy="566928"/>
          </a:xfrm>
          <a:prstGeom prst="ellipse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19"/>
          <p:cNvSpPr txBox="1"/>
          <p:nvPr/>
        </p:nvSpPr>
        <p:spPr>
          <a:xfrm>
            <a:off x="8092440" y="4590288"/>
            <a:ext cx="566928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8805672" y="4590288"/>
            <a:ext cx="2194560" cy="56692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文献</a:t>
            </a:r>
            <a:r>
              <a:rPr 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复现</a:t>
            </a:r>
            <a:endParaRPr lang="zh-CN" sz="200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89611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研究背景</a:t>
            </a:r>
            <a:endParaRPr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水下图像增强与目标检测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94360" y="1170432"/>
            <a:ext cx="10981944" cy="55778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水下偏色、模糊和噪声会影响识别；增强过程也可能改变目标边缘与细节。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21792" y="1837944"/>
            <a:ext cx="258775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原始图检测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论文原图 fig1_raw" descr="论文原图裁剪：fig1_ra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393" y="2414016"/>
            <a:ext cx="2429405" cy="2423160"/>
          </a:xfrm>
          <a:prstGeom prst="rect">
            <a:avLst/>
          </a:prstGeom>
        </p:spPr>
      </p:pic>
      <p:sp>
        <p:nvSpPr>
          <p:cNvPr id="7" name="Text 7"/>
          <p:cNvSpPr txBox="1"/>
          <p:nvPr>
            <p:custDataLst>
              <p:tags r:id="rId3"/>
            </p:custDataLst>
          </p:nvPr>
        </p:nvSpPr>
        <p:spPr>
          <a:xfrm>
            <a:off x="3401568" y="1837944"/>
            <a:ext cx="258775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TACL 增强后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论文原图 fig1_tacl" descr="论文原图裁剪：fig1_tacl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479292" y="2414016"/>
            <a:ext cx="2423160" cy="2423160"/>
          </a:xfrm>
          <a:prstGeom prst="rect">
            <a:avLst/>
          </a:prstGeom>
        </p:spPr>
      </p:pic>
      <p:sp>
        <p:nvSpPr>
          <p:cNvPr id="9" name="Text 9"/>
          <p:cNvSpPr txBox="1"/>
          <p:nvPr>
            <p:custDataLst>
              <p:tags r:id="rId6"/>
            </p:custDataLst>
          </p:nvPr>
        </p:nvSpPr>
        <p:spPr>
          <a:xfrm>
            <a:off x="6181344" y="1837944"/>
            <a:ext cx="258775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Fusion 增强后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论文原图 fig1_fusion" descr="论文原图裁剪：fig1_fusion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259068" y="2414016"/>
            <a:ext cx="2423160" cy="2423160"/>
          </a:xfrm>
          <a:prstGeom prst="rect">
            <a:avLst/>
          </a:prstGeom>
        </p:spPr>
      </p:pic>
      <p:sp>
        <p:nvSpPr>
          <p:cNvPr id="11" name="Text 11"/>
          <p:cNvSpPr txBox="1"/>
          <p:nvPr>
            <p:custDataLst>
              <p:tags r:id="rId9"/>
            </p:custDataLst>
          </p:nvPr>
        </p:nvSpPr>
        <p:spPr>
          <a:xfrm>
            <a:off x="8961120" y="1837944"/>
            <a:ext cx="2587752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增强后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论文原图 fig1_ours" descr="论文原图裁剪：fig1_ours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41959" y="2414016"/>
            <a:ext cx="2416931" cy="242316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594360" y="5404104"/>
            <a:ext cx="10981944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评价重点：目标是否被找到，而不只是图像是否更鲜艳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567055" y="6009005"/>
            <a:ext cx="10972800" cy="49377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原文示例中，TFUIE 缓解漏检；后续用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任务指标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验证整体效果。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非配对增强与语义任务监督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417320"/>
          <a:ext cx="10991088" cy="320040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3282696"/>
                <a:gridCol w="4736592"/>
                <a:gridCol w="2971800"/>
              </a:tblGrid>
              <a:tr h="51206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训练信息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本文如何使用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是否需要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89611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同场景的水下图与清晰参考图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不要求一一配对的真实参考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不需要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水下图与陆地清晰图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来自 SUIM 与 Flickr2K 两个图像域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水下像素级语义标签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监督特征支路与图像支路的分割预测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4992624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增强训练的两个图像域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94360" y="5522976"/>
            <a:ext cx="10981944" cy="90525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SUIM：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1,634 张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带语义标签的水下图；Flickr2K：随机选择 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1,634 张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陆地图。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两域数量相同，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场景不一一对应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89611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难点问题</a:t>
            </a:r>
            <a:endParaRPr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任务友好型增强的三个难点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426464"/>
          <a:ext cx="10991215" cy="333756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834640"/>
                <a:gridCol w="4178808"/>
                <a:gridCol w="3977640"/>
              </a:tblGrid>
              <a:tr h="53949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难点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对机器视觉的影响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本文应对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932688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不同数据域特征不一致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训练水域与实际任务水域不同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DR：分离内容与水下失真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增强时丢失结构信息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去噪与平滑可能改变目标轮廓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SACM：约束同内容特征相似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增强与识别目标有差异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优化颜色不等于优化任务性能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DTGB：特征和图像两层指导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486400"/>
            <a:ext cx="10991088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三个模块分别处理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域差异、内容保留与任务对齐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，并在一个框架中联合训练。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89611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研究过程</a:t>
            </a:r>
            <a:endParaRPr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整体训练框架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fig2_framework_full" descr="论文原图裁剪：fig2_framework_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91" y="1161288"/>
            <a:ext cx="8016250" cy="52029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内容与失真解耦：正向交叉转换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fig2_forward_enhancement_clean" descr="论文原图裁剪：fig2_forward_enhancement_cle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296" y="1216152"/>
            <a:ext cx="3839696" cy="1947672"/>
          </a:xfrm>
          <a:prstGeom prst="rect">
            <a:avLst/>
          </a:prstGeom>
        </p:spPr>
      </p:pic>
      <p:pic>
        <p:nvPicPr>
          <p:cNvPr id="5" name="论文原图 fig2_forward_synthesis" descr="论文原图裁剪：fig2_forward_synthe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563822"/>
            <a:ext cx="5614416" cy="1778613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6656832" y="1325880"/>
            <a:ext cx="466344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增强路径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6656832" y="1828800"/>
            <a:ext cx="4663440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取水下图的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内容特征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由增强生成器输出 RGB 图。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6656832" y="3502152"/>
            <a:ext cx="466344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合成路径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6656832" y="4005072"/>
            <a:ext cx="4663440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把水下图的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失真特征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加到陆地图的内容特征上。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94360" y="5833872"/>
            <a:ext cx="10972800" cy="53035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理解重点：水下失真可以被迁移；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场景内容仍由各自的原图提供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循环重建：转换后仍要保留原场景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94360" y="1197864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两个重建目标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流程节点 5"/>
          <p:cNvSpPr txBox="1"/>
          <p:nvPr/>
        </p:nvSpPr>
        <p:spPr>
          <a:xfrm>
            <a:off x="694944" y="1883664"/>
            <a:ext cx="2743200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合成水下图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内容来自陆地图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流程箭头 6"/>
          <p:cNvSpPr txBox="1"/>
          <p:nvPr/>
        </p:nvSpPr>
        <p:spPr>
          <a:xfrm>
            <a:off x="3685032" y="2286000"/>
            <a:ext cx="566928" cy="265176"/>
          </a:xfrm>
          <a:prstGeom prst="rightArrow">
            <a:avLst/>
          </a:prstGeom>
          <a:solidFill>
            <a:srgbClr val="0070C0"/>
          </a:solidFill>
          <a:ln w="12700">
            <a:noFill/>
          </a:ln>
        </p:spPr>
      </p:sp>
      <p:sp>
        <p:nvSpPr>
          <p:cNvPr id="7" name="流程节点 7"/>
          <p:cNvSpPr txBox="1"/>
          <p:nvPr/>
        </p:nvSpPr>
        <p:spPr>
          <a:xfrm>
            <a:off x="4535424" y="1883664"/>
            <a:ext cx="2560320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再次增强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流程箭头 8"/>
          <p:cNvSpPr txBox="1"/>
          <p:nvPr/>
        </p:nvSpPr>
        <p:spPr>
          <a:xfrm>
            <a:off x="7351776" y="2286000"/>
            <a:ext cx="566928" cy="265176"/>
          </a:xfrm>
          <a:prstGeom prst="rightArrow">
            <a:avLst/>
          </a:prstGeom>
          <a:solidFill>
            <a:srgbClr val="0070C0"/>
          </a:solidFill>
          <a:ln w="12700">
            <a:noFill/>
          </a:ln>
        </p:spPr>
      </p:sp>
      <p:sp>
        <p:nvSpPr>
          <p:cNvPr id="9" name="流程节点 9"/>
          <p:cNvSpPr txBox="1"/>
          <p:nvPr/>
        </p:nvSpPr>
        <p:spPr>
          <a:xfrm>
            <a:off x="8202168" y="1883664"/>
            <a:ext cx="3319272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重建原陆地图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流程节点 10"/>
          <p:cNvSpPr txBox="1"/>
          <p:nvPr/>
        </p:nvSpPr>
        <p:spPr>
          <a:xfrm>
            <a:off x="694944" y="3355848"/>
            <a:ext cx="2743200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增强图的内容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合成图的失真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流程箭头 11"/>
          <p:cNvSpPr txBox="1"/>
          <p:nvPr/>
        </p:nvSpPr>
        <p:spPr>
          <a:xfrm>
            <a:off x="3685032" y="3749040"/>
            <a:ext cx="566928" cy="265176"/>
          </a:xfrm>
          <a:prstGeom prst="rightArrow">
            <a:avLst/>
          </a:prstGeom>
          <a:solidFill>
            <a:srgbClr val="0070C0"/>
          </a:solidFill>
          <a:ln w="12700">
            <a:noFill/>
          </a:ln>
        </p:spPr>
      </p:sp>
      <p:sp>
        <p:nvSpPr>
          <p:cNvPr id="12" name="流程节点 12"/>
          <p:cNvSpPr txBox="1"/>
          <p:nvPr/>
        </p:nvSpPr>
        <p:spPr>
          <a:xfrm>
            <a:off x="4535424" y="3355848"/>
            <a:ext cx="2560320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再次合成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流程箭头 13"/>
          <p:cNvSpPr txBox="1"/>
          <p:nvPr/>
        </p:nvSpPr>
        <p:spPr>
          <a:xfrm>
            <a:off x="7351776" y="3749040"/>
            <a:ext cx="566928" cy="265176"/>
          </a:xfrm>
          <a:prstGeom prst="rightArrow">
            <a:avLst/>
          </a:prstGeom>
          <a:solidFill>
            <a:srgbClr val="0070C0"/>
          </a:solidFill>
          <a:ln w="12700">
            <a:noFill/>
          </a:ln>
        </p:spPr>
      </p:sp>
      <p:sp>
        <p:nvSpPr>
          <p:cNvPr id="14" name="流程节点 14"/>
          <p:cNvSpPr txBox="1"/>
          <p:nvPr/>
        </p:nvSpPr>
        <p:spPr>
          <a:xfrm>
            <a:off x="8202168" y="3355848"/>
            <a:ext cx="3319272" cy="103327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重建原水下图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论文原图 eq3_4_backward" descr="论文原图裁剪：eq3_4_backw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830190"/>
            <a:ext cx="5230368" cy="955803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6693408" y="4846320"/>
            <a:ext cx="4599432" cy="106984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循环一致性损失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比较重建图与原图，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降低转换时场景内容被改变的风险。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网络结构：密集连接与多尺度融合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fig3_network_full" descr="论文原图裁剪：fig3_network_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51" y="1252728"/>
            <a:ext cx="4954961" cy="4855464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6867144" y="1362456"/>
            <a:ext cx="4443984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三个编码器，两个生成器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867144" y="1865376"/>
            <a:ext cx="4443984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编码器同构，生成器同构；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权重各自独立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6867144" y="3099816"/>
            <a:ext cx="4443984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四尺度特征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6867144" y="3602736"/>
            <a:ext cx="4443984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四次下采样；生成器融合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不同尺度的内容与结构信息。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6867144" y="4800600"/>
            <a:ext cx="4443984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Dense Block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867144" y="5303520"/>
            <a:ext cx="4443984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用密集连接传递特征与梯度，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替换普通卷积模块。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SACM：同内容拉近，不同内容推远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fig4_sacm_full" descr="论文原图裁剪：fig4_sacm_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547358"/>
            <a:ext cx="6574536" cy="2986044"/>
          </a:xfrm>
          <a:prstGeom prst="rect">
            <a:avLst/>
          </a:prstGeom>
        </p:spPr>
      </p:pic>
      <p:graphicFrame>
        <p:nvGraphicFramePr>
          <p:cNvPr id="5" name="可编辑表格 5"/>
          <p:cNvGraphicFramePr/>
          <p:nvPr/>
        </p:nvGraphicFramePr>
        <p:xfrm>
          <a:off x="7360920" y="1572768"/>
          <a:ext cx="4197096" cy="2176272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1106424"/>
                <a:gridCol w="1069848"/>
                <a:gridCol w="1078992"/>
                <a:gridCol w="941832"/>
              </a:tblGrid>
              <a:tr h="566928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三元组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锚点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正样本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负样本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增强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增强图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水下图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陆地图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合成图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陆地图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水下图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7370064" y="4206240"/>
            <a:ext cx="4178808" cy="106984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正负样本按</a:t>
            </a: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场景内容是否相同</a:t>
            </a: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定义，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而不是简单按清晰或模糊划分。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论文原图 eq8_contrastive" descr="论文原图裁剪：eq8_contrast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04" y="5175504"/>
            <a:ext cx="4758448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DTGB：特征与图像两层语义指导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fig5_dtgb_full" descr="论文原图裁剪：fig5_dtgb_fu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2859"/>
            <a:ext cx="6537960" cy="3739713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443216" y="1408176"/>
            <a:ext cx="408736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特征级分支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7443216" y="1911096"/>
            <a:ext cx="4087368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内容特征 → 分割解码器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用语义标签指导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内容编码器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7443216" y="3465576"/>
            <a:ext cx="408736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图像级分支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7443216" y="3968496"/>
            <a:ext cx="4087368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增强图 → U-Net 分割网络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生成器输出可识别图像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94360" y="5888736"/>
            <a:ext cx="10991088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两条分支都使用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语义分割交叉熵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；检测与显著性检测用于后续评估，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评估做消融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五种损失与训练目标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pic>
        <p:nvPicPr>
          <p:cNvPr id="4" name="论文原图 eq10_total" descr="论文原图裁剪：eq10_tot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43" y="1216152"/>
            <a:ext cx="7403315" cy="667512"/>
          </a:xfrm>
          <a:prstGeom prst="rect">
            <a:avLst/>
          </a:prstGeom>
        </p:spPr>
      </p:pic>
      <p:graphicFrame>
        <p:nvGraphicFramePr>
          <p:cNvPr id="5" name="可编辑表格 5"/>
          <p:cNvGraphicFramePr/>
          <p:nvPr/>
        </p:nvGraphicFramePr>
        <p:xfrm>
          <a:off x="594360" y="2212848"/>
          <a:ext cx="10991088" cy="3438144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423160"/>
                <a:gridCol w="7077456"/>
                <a:gridCol w="1490472"/>
              </a:tblGrid>
              <a:tr h="51206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损失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主要约束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循环一致性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重建原水下图与原陆地图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恒等映射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输入清晰域时减少不必要的变化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对抗损失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PatchGAN 区分真实与合成水下图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语义对比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同内容特征相近，异内容特征分离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任务损失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特征分割 CE + 增强图分割 CE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594360" y="5980176"/>
            <a:ext cx="10972800" cy="44805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训练同时约束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转换、内容保留与任务表现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89611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研究结果</a:t>
            </a:r>
            <a:endParaRPr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实验数据集与评价指标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408176"/>
          <a:ext cx="10991088" cy="338328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3785616"/>
                <a:gridCol w="3867912"/>
                <a:gridCol w="3337560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 / 数据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下游网络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主要指标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94183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语义分割：SUIM，8 类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DeepLabv3+、U-Net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mIoU、mPA、各类别 IoU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目标检测：ChinaMM，3 类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RetinaNet、SSD、Faster R-CNN、FERNet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mAP（原文 @0.5:0.95）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显著性：UFO-120、USOD10K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U2NET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F、S、E-measure；MAE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4928616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基线与比较方法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594360" y="5440680"/>
            <a:ext cx="10981944" cy="107899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基线；UDCP、AAC、Fusion、FGAN。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UWCNN、Water-Net、TACL、U-Trans。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只评价机器视觉任务</a:t>
            </a: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，未报告人眼画质指标。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语义分割：两种网络的平均指标提升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152144"/>
          <a:ext cx="10991088" cy="461772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496312"/>
                <a:gridCol w="2185416"/>
                <a:gridCol w="2185416"/>
                <a:gridCol w="2057400"/>
                <a:gridCol w="2066544"/>
              </a:tblGrid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输入方法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DeepLabv3+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 ↑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DeepLabv3+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mPA ↑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U-Net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 ↑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U-Net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mPA ↑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Raw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70.6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82.5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UDCP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82.7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69.5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81.1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FGAN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70.3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83.6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71.9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79.9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Water-Net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Fusion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71.1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72.6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82.4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UWCNN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70.1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82.4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71.7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TACL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71.3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83.4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71.9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U-Trans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83.2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82.9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AAC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72.0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73.1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83.1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TFUIE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73.4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84.7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74.8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83.9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6025896"/>
            <a:ext cx="10981944" cy="49377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Raw，mIoU 分别提高 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2.8、2.6 个百分点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；平均提升不等于每类都最优。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分割可视化：比较预测类别与真实标注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603504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水下输入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论文原图 fig6_seg_scene1_input" descr="论文原图裁剪：fig6_seg_scene1_in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28510"/>
            <a:ext cx="2048256" cy="1537940"/>
          </a:xfrm>
          <a:prstGeom prst="rect">
            <a:avLst/>
          </a:prstGeom>
        </p:spPr>
      </p:pic>
      <p:pic>
        <p:nvPicPr>
          <p:cNvPr id="6" name="论文原图 fig6_seg_scene2_input" descr="论文原图裁剪：fig6_seg_scene2_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03030"/>
            <a:ext cx="2048256" cy="1537940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2807208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论文原图 fig6_seg_scene1_raw" descr="论文原图裁剪：fig6_seg_scene1_r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931126"/>
            <a:ext cx="2048256" cy="1532709"/>
          </a:xfrm>
          <a:prstGeom prst="rect">
            <a:avLst/>
          </a:prstGeom>
        </p:spPr>
      </p:pic>
      <p:pic>
        <p:nvPicPr>
          <p:cNvPr id="9" name="论文原图 fig6_seg_scene2_raw" descr="论文原图裁剪：fig6_seg_scene2_r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08" y="3805646"/>
            <a:ext cx="2048256" cy="1532709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5010912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TACL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论文原图 fig6_seg_scene1_tacl" descr="论文原图裁剪：fig6_seg_scene1_tac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925015"/>
            <a:ext cx="2048256" cy="1544930"/>
          </a:xfrm>
          <a:prstGeom prst="rect">
            <a:avLst/>
          </a:prstGeom>
        </p:spPr>
      </p:pic>
      <p:pic>
        <p:nvPicPr>
          <p:cNvPr id="12" name="论文原图 fig6_seg_scene2_tacl" descr="论文原图裁剪：fig6_seg_scene2_tac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803030"/>
            <a:ext cx="2048256" cy="15379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214616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论文原图 fig6_seg_scene1_ours" descr="论文原图裁剪：fig6_seg_scene1_ou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1925015"/>
            <a:ext cx="2048256" cy="1544930"/>
          </a:xfrm>
          <a:prstGeom prst="rect">
            <a:avLst/>
          </a:prstGeom>
        </p:spPr>
      </p:pic>
      <p:pic>
        <p:nvPicPr>
          <p:cNvPr id="15" name="论文原图 fig6_seg_scene2_ours" descr="论文原图裁剪：fig6_seg_scene2_our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3803030"/>
            <a:ext cx="2048256" cy="153794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9418320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真实标注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论文原图 fig6_seg_scene1_groundtruth" descr="论文原图裁剪：fig6_seg_scene1_groundtruth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0" y="1925015"/>
            <a:ext cx="2048256" cy="1544930"/>
          </a:xfrm>
          <a:prstGeom prst="rect">
            <a:avLst/>
          </a:prstGeom>
        </p:spPr>
      </p:pic>
      <p:pic>
        <p:nvPicPr>
          <p:cNvPr id="18" name="论文原图 fig6_seg_scene2_groundtruth" descr="论文原图裁剪：fig6_seg_scene2_groundtrut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0" y="3803030"/>
            <a:ext cx="2048256" cy="153794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594360" y="5870448"/>
            <a:ext cx="10981944" cy="61264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彩色图是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语义类别预测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；观察目标轮廓、背景误分与标签一致性。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目标检测：四种检测器的 mAP 比较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152144"/>
          <a:ext cx="10991088" cy="466344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450592"/>
                <a:gridCol w="2075688"/>
                <a:gridCol w="1874520"/>
                <a:gridCol w="2496312"/>
                <a:gridCol w="2093976"/>
              </a:tblGrid>
              <a:tr h="54864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输入方法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RetinaNet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SSD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Faster R-CNN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FERNet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Raw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59.3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64.3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70.2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UDCP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65.1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FGAN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68.6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57.2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68.4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Water-Net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58.3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66.9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Fusion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58.0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61.6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64.5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UWCNN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66.1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57.3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60.4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68.0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TACL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58.4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63.0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70.4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U-Trans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64.7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57.6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61.8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AAC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66.2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57.9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62.3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67.1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TFUIE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77.4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65.0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68.1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71.8</a:t>
                      </a:r>
                      <a:endParaRPr lang="zh-CN" sz="19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943600"/>
            <a:ext cx="10991088" cy="6309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Raw，分别提升 </a:t>
            </a: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4.6、5.7、3.8、1.6 个百分点</a:t>
            </a: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多数对比方法未稳定超过 Raw；TFUIE 在四种检测器上均最高。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检测可视化：小目标与困难区域的漏检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603504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水下输入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论文原图 fig7_det_scene1_input" descr="论文原图裁剪：fig7_det_scene1_in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78561"/>
            <a:ext cx="2048256" cy="1373830"/>
          </a:xfrm>
          <a:prstGeom prst="rect">
            <a:avLst/>
          </a:prstGeom>
        </p:spPr>
      </p:pic>
      <p:pic>
        <p:nvPicPr>
          <p:cNvPr id="6" name="论文原图 fig7_det_scene2_input" descr="论文原图裁剪：fig7_det_scene2_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856203"/>
            <a:ext cx="2048256" cy="1367586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2807208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检测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论文原图 fig7_det_scene1_raw" descr="论文原图裁剪：fig7_det_scene1_r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980649"/>
            <a:ext cx="2048256" cy="1369654"/>
          </a:xfrm>
          <a:prstGeom prst="rect">
            <a:avLst/>
          </a:prstGeom>
        </p:spPr>
      </p:pic>
      <p:pic>
        <p:nvPicPr>
          <p:cNvPr id="9" name="论文原图 fig7_det_scene2_raw" descr="论文原图裁剪：fig7_det_scene2_r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08" y="3856203"/>
            <a:ext cx="2048256" cy="1367586"/>
          </a:xfrm>
          <a:prstGeom prst="rect">
            <a:avLst/>
          </a:prstGeom>
        </p:spPr>
      </p:pic>
      <p:sp>
        <p:nvSpPr>
          <p:cNvPr id="10" name="Text 10"/>
          <p:cNvSpPr txBox="1"/>
          <p:nvPr/>
        </p:nvSpPr>
        <p:spPr>
          <a:xfrm>
            <a:off x="5010912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TACL 检测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论文原图 fig7_det_scene1_tacl" descr="论文原图裁剪：fig7_det_scene1_tac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982724"/>
            <a:ext cx="2048256" cy="1365504"/>
          </a:xfrm>
          <a:prstGeom prst="rect">
            <a:avLst/>
          </a:prstGeom>
        </p:spPr>
      </p:pic>
      <p:pic>
        <p:nvPicPr>
          <p:cNvPr id="12" name="论文原图 fig7_det_scene2_tacl" descr="论文原图裁剪：fig7_det_scene2_tac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853081"/>
            <a:ext cx="2048256" cy="137383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7214616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检测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论文原图 fig7_det_scene1_ours" descr="论文原图裁剪：fig7_det_scene1_ou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1978561"/>
            <a:ext cx="2048256" cy="1373830"/>
          </a:xfrm>
          <a:prstGeom prst="rect">
            <a:avLst/>
          </a:prstGeom>
        </p:spPr>
      </p:pic>
      <p:pic>
        <p:nvPicPr>
          <p:cNvPr id="15" name="论文原图 fig7_det_scene2_ours" descr="论文原图裁剪：fig7_det_scene2_our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3853081"/>
            <a:ext cx="2048256" cy="1373830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9418320" y="1252728"/>
            <a:ext cx="2057400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真实标注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论文原图 fig7_det_scene1_groundtruth" descr="论文原图裁剪：fig7_det_scene1_groundtruth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0" y="1978561"/>
            <a:ext cx="2048256" cy="1373830"/>
          </a:xfrm>
          <a:prstGeom prst="rect">
            <a:avLst/>
          </a:prstGeom>
        </p:spPr>
      </p:pic>
      <p:pic>
        <p:nvPicPr>
          <p:cNvPr id="18" name="论文原图 fig7_det_scene2_groundtruth" descr="论文原图裁剪：fig7_det_scene2_groundtrut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0" y="3853081"/>
            <a:ext cx="2048256" cy="1373830"/>
          </a:xfrm>
          <a:prstGeom prst="rect">
            <a:avLst/>
          </a:prstGeom>
        </p:spPr>
      </p:pic>
      <p:sp>
        <p:nvSpPr>
          <p:cNvPr id="19" name="Text 19"/>
          <p:cNvSpPr txBox="1"/>
          <p:nvPr/>
        </p:nvSpPr>
        <p:spPr>
          <a:xfrm>
            <a:off x="594360" y="5852160"/>
            <a:ext cx="10981944" cy="6492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类别：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0B 海参、1B 海胆、2B 扇贝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；黄框为原文重点观察的困难区域。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显著性检测：两个数据集的四项指标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16736"/>
          <a:ext cx="10991088" cy="4178808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121408"/>
                <a:gridCol w="1892808"/>
                <a:gridCol w="1700784"/>
                <a:gridCol w="1700784"/>
                <a:gridCol w="1700784"/>
                <a:gridCol w="1874520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 ↑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 ↑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 ↑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MAE ↓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UFO-120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Raw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71.3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78.3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78.6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0.133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UFO-120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TACL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75.6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72.9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0.161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UFO-120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TFUIE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79.1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80.6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0.125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USOD10K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Raw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85.9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USOD10K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TACL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85.5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84.8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0.058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USOD10K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TFUIE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76.0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86.7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87.2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0.049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715000"/>
            <a:ext cx="10981944" cy="90525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Raw，F-measure 提升 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/ 2.5 个百分点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，MAE 降低 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0.008 / 0.006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完整原表中，TFUIE 在两数据集的四项指标均为最好。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显著性可视化：目标完整性与背景误响应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594360" y="1152144"/>
            <a:ext cx="10991088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上：UFO-120；下：USOD10K。灰度图为 U2NET 的显著性预测。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03504" y="1828800"/>
            <a:ext cx="205740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水下输入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论文原图 fig8_ufo120_scene1_input" descr="论文原图裁剪：fig8_ufo120_scene1_in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448122"/>
            <a:ext cx="2048256" cy="1541132"/>
          </a:xfrm>
          <a:prstGeom prst="rect">
            <a:avLst/>
          </a:prstGeom>
        </p:spPr>
      </p:pic>
      <p:pic>
        <p:nvPicPr>
          <p:cNvPr id="7" name="论文原图 fig9_usod10k_scene1_input" descr="论文原图裁剪：fig9_usod10k_scene1_in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407408"/>
            <a:ext cx="2048256" cy="1536192"/>
          </a:xfrm>
          <a:prstGeom prst="rect">
            <a:avLst/>
          </a:prstGeom>
        </p:spPr>
      </p:pic>
      <p:sp>
        <p:nvSpPr>
          <p:cNvPr id="8" name="Text 8"/>
          <p:cNvSpPr txBox="1"/>
          <p:nvPr/>
        </p:nvSpPr>
        <p:spPr>
          <a:xfrm>
            <a:off x="2807208" y="1828800"/>
            <a:ext cx="205740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论文原图 fig8_ufo120_scene1_raw" descr="论文原图裁剪：fig8_ufo120_scene1_ra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2448122"/>
            <a:ext cx="2048256" cy="1541132"/>
          </a:xfrm>
          <a:prstGeom prst="rect">
            <a:avLst/>
          </a:prstGeom>
        </p:spPr>
      </p:pic>
      <p:pic>
        <p:nvPicPr>
          <p:cNvPr id="10" name="论文原图 fig9_usod10k_scene1_raw" descr="论文原图裁剪：fig9_usod10k_scene1_ra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7208" y="4407408"/>
            <a:ext cx="2048256" cy="153619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5010912" y="1828800"/>
            <a:ext cx="205740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TACL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论文原图 fig8_ufo120_scene1_tacl" descr="论文原图裁剪：fig8_ufo120_scene1_tac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448122"/>
            <a:ext cx="2048256" cy="1541132"/>
          </a:xfrm>
          <a:prstGeom prst="rect">
            <a:avLst/>
          </a:prstGeom>
        </p:spPr>
      </p:pic>
      <p:pic>
        <p:nvPicPr>
          <p:cNvPr id="13" name="论文原图 fig9_usod10k_scene1_tacl" descr="论文原图裁剪：fig9_usod10k_scene1_tac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4404938"/>
            <a:ext cx="2048256" cy="1541132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7214616" y="1828800"/>
            <a:ext cx="205740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预测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论文原图 fig8_ufo120_scene1_ours" descr="论文原图裁剪：fig8_ufo120_scene1_ou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616" y="2448122"/>
            <a:ext cx="2048256" cy="1541132"/>
          </a:xfrm>
          <a:prstGeom prst="rect">
            <a:avLst/>
          </a:prstGeom>
        </p:spPr>
      </p:pic>
      <p:pic>
        <p:nvPicPr>
          <p:cNvPr id="16" name="论文原图 fig9_usod10k_scene1_ours" descr="论文原图裁剪：fig9_usod10k_scene1_our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616" y="4407408"/>
            <a:ext cx="2048256" cy="1536192"/>
          </a:xfrm>
          <a:prstGeom prst="rect">
            <a:avLst/>
          </a:prstGeom>
        </p:spPr>
      </p:pic>
      <p:sp>
        <p:nvSpPr>
          <p:cNvPr id="17" name="Text 17"/>
          <p:cNvSpPr txBox="1"/>
          <p:nvPr/>
        </p:nvSpPr>
        <p:spPr>
          <a:xfrm>
            <a:off x="9418320" y="1828800"/>
            <a:ext cx="205740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真实标注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论文原图 fig8_ufo120_scene1_groundtruth" descr="论文原图裁剪：fig8_ufo120_scene1_groundtruth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0" y="2448122"/>
            <a:ext cx="2048256" cy="1541132"/>
          </a:xfrm>
          <a:prstGeom prst="rect">
            <a:avLst/>
          </a:prstGeom>
        </p:spPr>
      </p:pic>
      <p:pic>
        <p:nvPicPr>
          <p:cNvPr id="19" name="论文原图 fig9_usod10k_scene1_groundtruth" descr="论文原图裁剪：fig9_usod10k_scene1_groundtrut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8320" y="4407408"/>
            <a:ext cx="2048256" cy="1536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组件消融：DR、SACM 与 DTGB 的作用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89888"/>
          <a:ext cx="11119104" cy="4123944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871216"/>
                <a:gridCol w="2103120"/>
                <a:gridCol w="1993392"/>
                <a:gridCol w="2057400"/>
                <a:gridCol w="2093976"/>
              </a:tblGrid>
              <a:tr h="69494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DeepLabv3+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 ↑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U-Net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 ↑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RetinaNet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mAP ↑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UFO-120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 ↑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A：基础模型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65.9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70.2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62.1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67.2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B：A + DR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70.7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71.6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66.8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69.3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C：B + DTGB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72.7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73.0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72.4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D：B + SACM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71.8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72.1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74.0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73.3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 TFUIE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73.4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74.8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77.4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0070C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833872"/>
            <a:ext cx="10981944" cy="813816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C、D 分别在 B 上加入不同模块；完整模型的结果最好。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U-Net：加入 DTGB 后，mIoU 从 71.6 升至 73.0，提高 </a:t>
            </a:r>
            <a:r>
              <a:rPr lang="zh-CN" sz="2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1.4 个百分点</a:t>
            </a:r>
            <a:r>
              <a:rPr lang="zh-CN" sz="20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0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89611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我的思考</a:t>
            </a:r>
            <a:endParaRPr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主要贡献与可借鉴的设计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472184"/>
          <a:ext cx="10991088" cy="3410712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834640"/>
                <a:gridCol w="4279392"/>
                <a:gridCol w="3877056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本文验证了什么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可以借鉴什么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95097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 / 失真解耦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加入 DR 后多项任务指标提高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用因素分离处理复杂退化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语义感知对比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加入 SACM 后结果进一步提高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保留同一场景的语义结构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双层任务指导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分割指导对检测与显著性也有收益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把下游需求传到特征和输出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678424"/>
            <a:ext cx="10981944" cy="57607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研究启发：评价增强时，应先明确</a:t>
            </a:r>
            <a:r>
              <a:rPr lang="zh-CN" sz="2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最终任务与评价协议</a:t>
            </a:r>
            <a:r>
              <a:rPr lang="zh-CN" sz="2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23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局限与后续研究方向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89888"/>
          <a:ext cx="10991088" cy="3886200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5367528"/>
                <a:gridCol w="5623560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目前的证据边界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后续可以怎样验证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8321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增强不需配对，但语义指导依赖像素标签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研究弱标签或跨域语义指导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平均指标提升，个别类别仍会下降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分析各类别与极端水域失败案例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未报告重复实验波动与部署成本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补充多次运行、速度、显存与参数量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遥感 / 雾图扩展是结尾提出的方向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0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用对应数据与任务做独立验证</a:t>
                      </a:r>
                      <a:endParaRPr 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861304"/>
            <a:ext cx="10981944" cy="53035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的优势应限定在</a:t>
            </a: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已测试的数据、任务与训练协议</a:t>
            </a:r>
            <a:r>
              <a:rPr lang="zh-CN" sz="2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之内。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320040"/>
            <a:ext cx="11734495" cy="5989320"/>
          </a:xfrm>
          <a:prstGeom prst="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766586"/>
            <a:ext cx="2770632" cy="8625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481328"/>
            <a:ext cx="4142232" cy="41148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组会文献汇报</a:t>
            </a:r>
            <a:endParaRPr sz="1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0152" cy="738505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48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文献</a:t>
            </a:r>
            <a:r>
              <a:rPr lang="zh-CN" sz="44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复现</a:t>
            </a:r>
            <a:endParaRPr lang="zh-CN" sz="4400" b="1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406908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复现环境与训练材料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99032"/>
          <a:ext cx="10991088" cy="3776472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039112"/>
                <a:gridCol w="4343400"/>
                <a:gridCol w="4608576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论文明确设置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公开代码 / 准备条件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系统与 GPU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Linux；NVIDIA RTX 2070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CUDA 可识别 GPU；记录驱动与显存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框架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PyTorch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环境文件：Python 3.8、torch 1.8.1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水下域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SUIM 1,634 张，8 类语义标签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RGB 与单通道类别 mask 一一对应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陆地域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Flickr2K 随机取 1,634 张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裁 512×512，再缩放至 256×256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742432"/>
            <a:ext cx="10981944" cy="80467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仓库还声明 torchvision </a:t>
            </a:r>
            <a:r>
              <a:rPr lang="zh-CN" sz="21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0.9.1</a:t>
            </a: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；软件版本属于代码环境信息。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论文未给实际显存峰值、训练耗时与全部数据划分。</a:t>
            </a:r>
            <a:endParaRPr lang="zh-CN" sz="2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联合训练：200 个 epoch 的学习率日程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sp>
        <p:nvSpPr>
          <p:cNvPr id="4" name="流程节点 4"/>
          <p:cNvSpPr txBox="1"/>
          <p:nvPr/>
        </p:nvSpPr>
        <p:spPr>
          <a:xfrm>
            <a:off x="694944" y="1472184"/>
            <a:ext cx="5010912" cy="121615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1–100 个 epoch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学习率 0.0002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流程箭头 5"/>
          <p:cNvSpPr txBox="1"/>
          <p:nvPr/>
        </p:nvSpPr>
        <p:spPr>
          <a:xfrm>
            <a:off x="5879592" y="1965960"/>
            <a:ext cx="448056" cy="256032"/>
          </a:xfrm>
          <a:prstGeom prst="rightArrow">
            <a:avLst/>
          </a:prstGeom>
          <a:solidFill>
            <a:srgbClr val="0070C0"/>
          </a:solidFill>
          <a:ln w="12700">
            <a:noFill/>
          </a:ln>
        </p:spPr>
      </p:sp>
      <p:sp>
        <p:nvSpPr>
          <p:cNvPr id="6" name="流程节点 6"/>
          <p:cNvSpPr txBox="1"/>
          <p:nvPr/>
        </p:nvSpPr>
        <p:spPr>
          <a:xfrm>
            <a:off x="6501384" y="1472184"/>
            <a:ext cx="5010912" cy="1216152"/>
          </a:xfrm>
          <a:prstGeom prst="rect">
            <a:avLst/>
          </a:prstGeom>
          <a:solidFill>
            <a:srgbClr val="EEF3FA"/>
          </a:solidFill>
          <a:ln w="12700">
            <a:solidFill>
              <a:srgbClr val="0070C0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随后 100 个 epoch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学习率逐步衰减至 0</a:t>
            </a:r>
            <a:endParaRPr 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可编辑表格 7"/>
          <p:cNvGraphicFramePr/>
          <p:nvPr/>
        </p:nvGraphicFramePr>
        <p:xfrm>
          <a:off x="594360" y="3291840"/>
          <a:ext cx="10991088" cy="1216152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752344"/>
                <a:gridCol w="2752344"/>
                <a:gridCol w="2752344"/>
                <a:gridCol w="2734056"/>
              </a:tblGrid>
              <a:tr h="521208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优化器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Batch size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指导任务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判别器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69494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Adam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语义分割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PatchGAN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可编辑表格 8"/>
          <p:cNvGraphicFramePr/>
          <p:nvPr/>
        </p:nvGraphicFramePr>
        <p:xfrm>
          <a:off x="594360" y="4873752"/>
          <a:ext cx="10991088" cy="1069848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203704"/>
                <a:gridCol w="2194560"/>
                <a:gridCol w="2194560"/>
                <a:gridCol w="2194560"/>
                <a:gridCol w="2203704"/>
              </a:tblGrid>
              <a:tr h="484632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循环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恒等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对抗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语义对比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58521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21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</a:t>
                      </a:r>
                      <a:endParaRPr lang="zh-CN" sz="21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9"/>
          <p:cNvSpPr txBox="1"/>
          <p:nvPr/>
        </p:nvSpPr>
        <p:spPr>
          <a:xfrm>
            <a:off x="594360" y="6199632"/>
            <a:ext cx="10981944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以联合损失训练；每轮更新次数取决于数据列表与采样方式。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公开代码：运行前需要对齐的项目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89888"/>
          <a:ext cx="10991088" cy="4306824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203704"/>
                <a:gridCol w="5047488"/>
                <a:gridCol w="3739896"/>
              </a:tblGrid>
              <a:tr h="54864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检查项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当前公开代码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需要处理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914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轮数与 GPU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默认 75+75 轮；gpu_ids=7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按论文设 100+100；按本机选 GPU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49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对比项与学习策略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 loss_con，未并入总损失；PFC 未入优化器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确认 SACM 训练策略与总损失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缺项 / 预处理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读取未声明 lambda_P；缩放裁剪代码被注释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修复缺项；图像与标签同步处理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 / 测试入口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 VGG 依赖；路径和测试类注册需核对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8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补文件，建立单向增强测试入口</a:t>
                      </a:r>
                      <a:endParaRPr lang="zh-CN" sz="18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6080760"/>
            <a:ext cx="10981944" cy="484632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这些是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静态代码核查结果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；完整训练前应明确并记录修正方案。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886968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3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复现执行顺序与结果验收</a:t>
            </a:r>
            <a:endParaRPr lang="zh-CN" sz="3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Picture 3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1495" y="6491"/>
            <a:ext cx="2770632" cy="862555"/>
          </a:xfrm>
          <a:prstGeom prst="rect">
            <a:avLst/>
          </a:prstGeom>
        </p:spPr>
      </p:pic>
      <p:graphicFrame>
        <p:nvGraphicFramePr>
          <p:cNvPr id="4" name="可编辑表格 4"/>
          <p:cNvGraphicFramePr/>
          <p:nvPr/>
        </p:nvGraphicFramePr>
        <p:xfrm>
          <a:off x="594360" y="1399032"/>
          <a:ext cx="10991088" cy="3995928"/>
        </p:xfrm>
        <a:graphic>
          <a:graphicData uri="http://schemas.openxmlformats.org/drawingml/2006/table">
            <a:tbl>
              <a:tblPr firstRow="1">
                <a:solidFill>
                  <a:srgbClr val="FFFFFF"/>
                </a:solidFill>
              </a:tblPr>
              <a:tblGrid>
                <a:gridCol w="2112264"/>
                <a:gridCol w="5065776"/>
                <a:gridCol w="3813048"/>
              </a:tblGrid>
              <a:tr h="557784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顺序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执行内容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检查结果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</a:tr>
              <a:tr h="85953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数据与代码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固定提交、依赖、两域图像及 SUIM mask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样本清单、标签对齐、预处理正确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小批次检查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补权重与入口，验证五项损失和梯度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数值有限，各模块按预期更新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 训练与增强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epoch；保存日志与 checkpoint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仅用内容编码器 + 生成器推理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 wrap="square">
                      <a:sp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 三任务与消融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分割 → 检测 → 显著性；对齐下游训练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>
                        <a:lnSpc>
                          <a:spcPct val="112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sz="195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mIoU/mPA、mAP、F/S/E/MAE</a:t>
                      </a:r>
                      <a:endParaRPr lang="zh-CN" sz="195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2296" marR="82296" anchor="ctr">
                    <a:lnL w="6350">
                      <a:solidFill>
                        <a:srgbClr val="CFD8E7"/>
                      </a:solidFill>
                      <a:prstDash val="solid"/>
                    </a:lnL>
                    <a:lnR w="6350">
                      <a:solidFill>
                        <a:srgbClr val="CFD8E7"/>
                      </a:solidFill>
                      <a:prstDash val="solid"/>
                    </a:lnR>
                    <a:lnT w="6350">
                      <a:solidFill>
                        <a:srgbClr val="CFD8E7"/>
                      </a:solidFill>
                      <a:prstDash val="solid"/>
                    </a:lnT>
                    <a:lnB w="6350">
                      <a:solidFill>
                        <a:srgbClr val="CFD8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94360" y="5797296"/>
            <a:ext cx="10981944" cy="65836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验收时同时对照 </a:t>
            </a:r>
            <a:r>
              <a:rPr lang="zh-CN" sz="21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Raw、对比增强和组件消融</a:t>
            </a:r>
            <a:r>
              <a:rPr lang="zh-CN" sz="21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，保存失败案例及实际运行成本。</a:t>
            </a:r>
            <a:endParaRPr lang="zh-CN" sz="215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086626"/>
            <a:ext cx="2770632" cy="8625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423160"/>
            <a:ext cx="10360152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8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汇报完毕，敬请老师同学批评指正！</a:t>
            </a:r>
            <a:endParaRPr 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960" y="3611880"/>
            <a:ext cx="5971032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19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TFUIE · IEEE TGRS · Vol. 62 · 2024</a:t>
            </a:r>
            <a:endParaRPr lang="zh-CN" sz="19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27448" y="4343400"/>
            <a:ext cx="2743200" cy="4572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6"/>
          <p:cNvSpPr txBox="1"/>
          <p:nvPr/>
        </p:nvSpPr>
        <p:spPr>
          <a:xfrm>
            <a:off x="1024128" y="4828032"/>
            <a:ext cx="10131552" cy="704088"/>
          </a:xfrm>
          <a:prstGeom prst="rect">
            <a:avLst/>
          </a:prstGeom>
          <a:noFill/>
          <a:ln w="12700">
            <a:noFill/>
          </a:ln>
        </p:spPr>
        <p:txBody>
          <a:bodyPr wrap="square" lIns="22860" tIns="22860" rIns="22860" bIns="2286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  <a:buNone/>
            </a:pPr>
            <a:r>
              <a:rPr lang="zh-CN" sz="2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讨论：怎样在去除失真的同时，保留任务所需的内容？</a:t>
            </a:r>
            <a:endParaRPr lang="zh-CN" sz="2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ags/tag2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ags/tag3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ags/tag4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ags/tag5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ags/tag6.xml><?xml version="1.0" encoding="utf-8"?>
<p:tagLst xmlns:p="http://schemas.openxmlformats.org/presentationml/2006/main">
  <p:tag name="KSO_WM_DIAGRAM_VIRTUALLY_FRAME" val="{&quot;height&quot;:236.16000000000003,&quot;left&quot;:267.84000000000003,&quot;top&quot;:144.72,&quot;width&quot;:641.520000000000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4889</Words>
  <Application>WPS 演示</Application>
  <PresentationFormat>宽屏</PresentationFormat>
  <Paragraphs>990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Calibri</vt:lpstr>
      <vt:lpstr>Arial Unicode MS</vt:lpstr>
      <vt:lpstr>Calibri Light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TFUIE 文献汇报</dc:title>
  <dc:creator/>
  <cp:lastModifiedBy>蒋浩宇</cp:lastModifiedBy>
  <cp:revision>16</cp:revision>
  <dcterms:created xsi:type="dcterms:W3CDTF">2026-07-25T02:41:00Z</dcterms:created>
  <dcterms:modified xsi:type="dcterms:W3CDTF">2026-10-08T01:59:31Z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71065D0E1319400AB7F266093A99B139_12</vt:lpwstr>
  </property>
  <property fmtid="{D5CDD505-2E9C-101B-9397-08002B2CF9AE}" pid="3" name="KSOProductBuildVer">
    <vt:lpwstr>2052-12.1.0.28043</vt:lpwstr>
  </property>
</Properties>
</file>